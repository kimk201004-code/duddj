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36192"/>
            <a:ext cx="5897880" cy="2240280"/>
          </a:xfrm>
        </p:spPr>
        <p:txBody>
          <a:bodyPr anchor="t" wrap="square" lIns="0" rIns="0" tIns="0" bIns="0">
            <a:noAutofit/>
          </a:bodyPr>
          <a:lstStyle/>
          <a:p>
            <a:pPr algn="l">
              <a:lnSpc>
                <a:spcPct val="88000"/>
              </a:lnSpc>
            </a:pPr>
            <a:r>
              <a:rPr sz="8400" b="1" spc="-200">
                <a:solidFill>
                  <a:srgbClr val="FFFFFF"/>
                </a:solidFill>
                <a:latin typeface="Arial"/>
              </a:rPr>
              <a:t>FIVE GUYS</a:t>
            </a:r>
          </a:p>
          <a:p>
            <a:pPr algn="l">
              <a:lnSpc>
                <a:spcPct val="88000"/>
              </a:lnSpc>
            </a:pPr>
            <a:r>
              <a:rPr sz="8400" b="1" spc="-200">
                <a:solidFill>
                  <a:srgbClr val="000000"/>
                </a:solidFill>
                <a:latin typeface="Arial"/>
              </a:rPr>
              <a:t>REVIEW</a:t>
            </a:r>
          </a:p>
        </p:txBody>
      </p:sp>
      <p:pic>
        <p:nvPicPr>
          <p:cNvPr id="3" name="Photo store_brighton_night" descr="Five Guys restaurant at night with its red neon FIVE GUYS sign"/>
          <p:cNvPicPr>
            <a:picLocks noChangeAspect="1"/>
          </p:cNvPicPr>
          <p:nvPr/>
        </p:nvPicPr>
        <p:blipFill>
          <a:blip r:embed="rId2"/>
          <a:srcRect l="13489" r="21489"/>
          <a:stretch>
            <a:fillRect/>
          </a:stretch>
        </p:blipFill>
        <p:spPr>
          <a:xfrm>
            <a:off x="6583680" y="0"/>
            <a:ext cx="5608320" cy="6451600"/>
          </a:xfrm>
          <a:prstGeom prst="rect">
            <a:avLst/>
          </a:prstGeom>
        </p:spPr>
      </p:pic>
      <p:sp>
        <p:nvSpPr>
          <p:cNvPr id="4" name="Subtitle"/>
          <p:cNvSpPr txBox="1"/>
          <p:nvPr/>
        </p:nvSpPr>
        <p:spPr>
          <a:xfrm>
            <a:off x="548640" y="4041648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Successful Marketing</a:t>
            </a:r>
          </a:p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&amp; Signature Menu</a:t>
            </a:r>
          </a:p>
        </p:txBody>
      </p:sp>
      <p:grpSp>
        <p:nvGrpSpPr>
          <p:cNvPr id="5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6" name="Rectangle 5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5760720" cy="1371600"/>
          </a:xfrm>
        </p:spPr>
        <p:txBody>
          <a:bodyPr anchor="t" wrap="square" lIns="0" rIns="0" tIns="0" bIns="0">
            <a:noAutofit/>
          </a:bodyPr>
          <a:lstStyle/>
          <a:p>
            <a:pPr algn="l">
              <a:lnSpc>
                <a:spcPct val="92000"/>
              </a:lnSpc>
            </a:pPr>
            <a:r>
              <a:rPr sz="4400" b="1">
                <a:solidFill>
                  <a:srgbClr val="000000"/>
                </a:solidFill>
                <a:latin typeface="Arial"/>
              </a:rPr>
              <a:t>$0 Advertising</a:t>
            </a:r>
          </a:p>
          <a:p>
            <a:pPr algn="l">
              <a:lnSpc>
                <a:spcPct val="92000"/>
              </a:lnSpc>
            </a:pPr>
            <a:r>
              <a:rPr sz="4400" b="1">
                <a:solidFill>
                  <a:srgbClr val="ED1C24"/>
                </a:solidFill>
                <a:latin typeface="Arial"/>
              </a:rPr>
              <a:t>&amp; Open Kitchen</a:t>
            </a:r>
          </a:p>
        </p:txBody>
      </p:sp>
      <p:pic>
        <p:nvPicPr>
          <p:cNvPr id="3" name="Photo open_kitchen_covent_garden" descr="Five Guys staff in red shirts cooking burgers in an open kitchen"/>
          <p:cNvPicPr>
            <a:picLocks noChangeAspect="1"/>
          </p:cNvPicPr>
          <p:nvPr/>
        </p:nvPicPr>
        <p:blipFill>
          <a:blip r:embed="rId2"/>
          <a:srcRect l="10566" r="34566"/>
          <a:stretch>
            <a:fillRect/>
          </a:stretch>
        </p:blipFill>
        <p:spPr>
          <a:xfrm>
            <a:off x="7452360" y="0"/>
            <a:ext cx="4739640" cy="6451600"/>
          </a:xfrm>
          <a:prstGeom prst="rect">
            <a:avLst/>
          </a:prstGeom>
        </p:spPr>
      </p:pic>
      <p:sp>
        <p:nvSpPr>
          <p:cNvPr id="4" name="Stat $0"/>
          <p:cNvSpPr/>
          <p:nvPr/>
        </p:nvSpPr>
        <p:spPr>
          <a:xfrm>
            <a:off x="548640" y="2240280"/>
            <a:ext cx="2468880" cy="3840480"/>
          </a:xfrm>
          <a:prstGeom prst="roundRect">
            <a:avLst>
              <a:gd name="adj" fmla="val 5555"/>
            </a:avLst>
          </a:prstGeom>
          <a:solidFill>
            <a:srgbClr val="ED1C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Icon device-tv-off" descr="device tv off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560320"/>
            <a:ext cx="713232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977640"/>
            <a:ext cx="2194560" cy="17830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12000" b="1">
                <a:solidFill>
                  <a:srgbClr val="FFFFFF"/>
                </a:solidFill>
                <a:latin typeface="Arial"/>
              </a:rPr>
              <a:t>$0</a:t>
            </a:r>
          </a:p>
        </p:txBody>
      </p:sp>
      <p:sp>
        <p:nvSpPr>
          <p:cNvPr id="7" name="Keyword Word-of-Mouth"/>
          <p:cNvSpPr/>
          <p:nvPr/>
        </p:nvSpPr>
        <p:spPr>
          <a:xfrm>
            <a:off x="3291840" y="2240280"/>
            <a:ext cx="3703320" cy="795528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adge messages"/>
          <p:cNvSpPr/>
          <p:nvPr/>
        </p:nvSpPr>
        <p:spPr>
          <a:xfrm>
            <a:off x="3429000" y="2359152"/>
            <a:ext cx="557784" cy="5577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Icon messages" descr="messages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1712" y="2481864"/>
            <a:ext cx="312359" cy="312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2240280"/>
            <a:ext cx="2788920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rial"/>
              </a:rPr>
              <a:t>Word-of-Mouth</a:t>
            </a:r>
          </a:p>
        </p:txBody>
      </p:sp>
      <p:sp>
        <p:nvSpPr>
          <p:cNvPr id="11" name="Keyword No Freezers"/>
          <p:cNvSpPr/>
          <p:nvPr/>
        </p:nvSpPr>
        <p:spPr>
          <a:xfrm>
            <a:off x="3291840" y="3255264"/>
            <a:ext cx="3703320" cy="795528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adge snowflake-off"/>
          <p:cNvSpPr/>
          <p:nvPr/>
        </p:nvSpPr>
        <p:spPr>
          <a:xfrm>
            <a:off x="3429000" y="3374136"/>
            <a:ext cx="557784" cy="5577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Icon snowflake-off" descr="snowflake off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1712" y="3496848"/>
            <a:ext cx="312359" cy="31235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60520" y="3255264"/>
            <a:ext cx="2788920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rial"/>
              </a:rPr>
              <a:t>No Freezers</a:t>
            </a:r>
          </a:p>
        </p:txBody>
      </p:sp>
      <p:sp>
        <p:nvSpPr>
          <p:cNvPr id="15" name="Keyword 100% Fresh"/>
          <p:cNvSpPr/>
          <p:nvPr/>
        </p:nvSpPr>
        <p:spPr>
          <a:xfrm>
            <a:off x="3291840" y="4270248"/>
            <a:ext cx="3703320" cy="795528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adge leaf"/>
          <p:cNvSpPr/>
          <p:nvPr/>
        </p:nvSpPr>
        <p:spPr>
          <a:xfrm>
            <a:off x="3429000" y="4389120"/>
            <a:ext cx="557784" cy="5577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Icon leaf" descr="leaf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1712" y="4511832"/>
            <a:ext cx="312359" cy="31235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60520" y="4270248"/>
            <a:ext cx="2788920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Arial"/>
              </a:rPr>
              <a:t>100% Fresh</a:t>
            </a:r>
          </a:p>
        </p:txBody>
      </p:sp>
      <p:sp>
        <p:nvSpPr>
          <p:cNvPr id="19" name="Keyword Customer Trust"/>
          <p:cNvSpPr/>
          <p:nvPr/>
        </p:nvSpPr>
        <p:spPr>
          <a:xfrm>
            <a:off x="3291840" y="5285232"/>
            <a:ext cx="3703320" cy="795528"/>
          </a:xfrm>
          <a:prstGeom prst="roundRect">
            <a:avLst>
              <a:gd name="adj" fmla="val 13793"/>
            </a:avLst>
          </a:prstGeom>
          <a:solidFill>
            <a:srgbClr val="ED1C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adge heart-handshake"/>
          <p:cNvSpPr/>
          <p:nvPr/>
        </p:nvSpPr>
        <p:spPr>
          <a:xfrm>
            <a:off x="3429000" y="5404104"/>
            <a:ext cx="557784" cy="5577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Icon heart-handshake" descr="heart handshak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1712" y="5526816"/>
            <a:ext cx="312359" cy="3123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60520" y="5285232"/>
            <a:ext cx="2788920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Customer Trust</a:t>
            </a:r>
          </a:p>
        </p:txBody>
      </p:sp>
      <p:grpSp>
        <p:nvGrpSpPr>
          <p:cNvPr id="23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24" name="Rectangle 23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5760720" cy="1371600"/>
          </a:xfrm>
        </p:spPr>
        <p:txBody>
          <a:bodyPr anchor="t" wrap="square" lIns="0" rIns="0" tIns="0" bIns="0">
            <a:noAutofit/>
          </a:bodyPr>
          <a:lstStyle/>
          <a:p>
            <a:pPr algn="l">
              <a:lnSpc>
                <a:spcPct val="92000"/>
              </a:lnSpc>
            </a:pPr>
            <a:r>
              <a:rPr sz="4400" b="1">
                <a:solidFill>
                  <a:srgbClr val="000000"/>
                </a:solidFill>
                <a:latin typeface="Arial"/>
              </a:rPr>
              <a:t>Mass Customization</a:t>
            </a:r>
          </a:p>
          <a:p>
            <a:pPr algn="l">
              <a:lnSpc>
                <a:spcPct val="92000"/>
              </a:lnSpc>
            </a:pPr>
            <a:r>
              <a:rPr sz="4400" b="1">
                <a:solidFill>
                  <a:srgbClr val="ED1C24"/>
                </a:solidFill>
                <a:latin typeface="Arial"/>
              </a:rPr>
              <a:t>&amp; Brand Experience</a:t>
            </a:r>
          </a:p>
        </p:txBody>
      </p:sp>
      <p:pic>
        <p:nvPicPr>
          <p:cNvPr id="3" name="Photo free_peanuts" descr="A box of free in-shell peanuts at a Five Guys restaurant"/>
          <p:cNvPicPr>
            <a:picLocks noChangeAspect="1"/>
          </p:cNvPicPr>
          <p:nvPr/>
        </p:nvPicPr>
        <p:blipFill>
          <a:blip r:embed="rId2"/>
          <a:srcRect t="19925" b="9925"/>
          <a:stretch>
            <a:fillRect/>
          </a:stretch>
        </p:blipFill>
        <p:spPr>
          <a:xfrm>
            <a:off x="6675120" y="0"/>
            <a:ext cx="5516880" cy="3154680"/>
          </a:xfrm>
          <a:prstGeom prst="rect">
            <a:avLst/>
          </a:prstGeom>
        </p:spPr>
      </p:pic>
      <p:sp>
        <p:nvSpPr>
          <p:cNvPr id="4" name="Stat Free Toppings"/>
          <p:cNvSpPr/>
          <p:nvPr/>
        </p:nvSpPr>
        <p:spPr>
          <a:xfrm>
            <a:off x="548640" y="3474720"/>
            <a:ext cx="2743200" cy="2651760"/>
          </a:xfrm>
          <a:prstGeom prst="roundRect">
            <a:avLst>
              <a:gd name="adj" fmla="val 517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Icon burger" descr="burger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9476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8" y="4370832"/>
            <a:ext cx="237744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200" b="1">
                <a:solidFill>
                  <a:srgbClr val="ED1C24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Arial"/>
              </a:rPr>
              <a:t>Free Toppings</a:t>
            </a:r>
          </a:p>
        </p:txBody>
      </p:sp>
      <p:sp>
        <p:nvSpPr>
          <p:cNvPr id="8" name="Stat Combinations"/>
          <p:cNvSpPr/>
          <p:nvPr/>
        </p:nvSpPr>
        <p:spPr>
          <a:xfrm>
            <a:off x="3566160" y="3474720"/>
            <a:ext cx="4572000" cy="2651760"/>
          </a:xfrm>
          <a:prstGeom prst="roundRect">
            <a:avLst>
              <a:gd name="adj" fmla="val 517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Icon arrows-shuffle" descr="arrows shuffle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379476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3048" y="4370832"/>
            <a:ext cx="420624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200" b="1">
                <a:solidFill>
                  <a:srgbClr val="ED1C24"/>
                </a:solidFill>
                <a:latin typeface="Arial"/>
              </a:rPr>
              <a:t>250,000+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5486400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Arial"/>
              </a:rPr>
              <a:t>Combinations</a:t>
            </a:r>
          </a:p>
        </p:txBody>
      </p:sp>
      <p:sp>
        <p:nvSpPr>
          <p:cNvPr id="12" name="Stat Peanuts"/>
          <p:cNvSpPr/>
          <p:nvPr/>
        </p:nvSpPr>
        <p:spPr>
          <a:xfrm>
            <a:off x="8412480" y="3474720"/>
            <a:ext cx="3230880" cy="2651760"/>
          </a:xfrm>
          <a:prstGeom prst="roundRect">
            <a:avLst>
              <a:gd name="adj" fmla="val 5172"/>
            </a:avLst>
          </a:prstGeom>
          <a:solidFill>
            <a:srgbClr val="ED1C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Icon gift" descr="gif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379476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59368" y="4370832"/>
            <a:ext cx="286512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Arial"/>
              </a:rPr>
              <a:t>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5486400"/>
            <a:ext cx="286512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Peanuts</a:t>
            </a:r>
          </a:p>
        </p:txBody>
      </p:sp>
      <p:sp>
        <p:nvSpPr>
          <p:cNvPr id="16" name="Arrow badge"/>
          <p:cNvSpPr/>
          <p:nvPr/>
        </p:nvSpPr>
        <p:spPr>
          <a:xfrm>
            <a:off x="3163824" y="4535424"/>
            <a:ext cx="530352" cy="530352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grpSp>
        <p:nvGrpSpPr>
          <p:cNvPr id="17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18" name="Rectangle 17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5760720" cy="1371600"/>
          </a:xfrm>
        </p:spPr>
        <p:txBody>
          <a:bodyPr anchor="t" wrap="square" lIns="0" rIns="0" tIns="0" bIns="0">
            <a:noAutofit/>
          </a:bodyPr>
          <a:lstStyle/>
          <a:p>
            <a:pPr algn="l">
              <a:lnSpc>
                <a:spcPct val="92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Bacon</a:t>
            </a:r>
          </a:p>
          <a:p>
            <a:pPr algn="l">
              <a:lnSpc>
                <a:spcPct val="92000"/>
              </a:lnSpc>
            </a:pPr>
            <a:r>
              <a:rPr sz="4400" b="1">
                <a:solidFill>
                  <a:srgbClr val="ED1C24"/>
                </a:solidFill>
                <a:latin typeface="Arial"/>
              </a:rPr>
              <a:t>Cheeseburger</a:t>
            </a:r>
          </a:p>
        </p:txBody>
      </p:sp>
      <p:pic>
        <p:nvPicPr>
          <p:cNvPr id="3" name="Photo bacon_cheeseburger" descr="Five Guys bacon cheeseburger"/>
          <p:cNvPicPr>
            <a:picLocks noChangeAspect="1"/>
          </p:cNvPicPr>
          <p:nvPr/>
        </p:nvPicPr>
        <p:blipFill>
          <a:blip r:embed="rId2"/>
          <a:srcRect l="13681" r="13681"/>
          <a:stretch>
            <a:fillRect/>
          </a:stretch>
        </p:blipFill>
        <p:spPr>
          <a:xfrm>
            <a:off x="5943600" y="0"/>
            <a:ext cx="6248400" cy="6451600"/>
          </a:xfrm>
          <a:prstGeom prst="rect">
            <a:avLst/>
          </a:prstGeom>
        </p:spPr>
      </p:pic>
      <p:sp>
        <p:nvSpPr>
          <p:cNvPr id="4" name="Photo fade"/>
          <p:cNvSpPr/>
          <p:nvPr/>
        </p:nvSpPr>
        <p:spPr>
          <a:xfrm>
            <a:off x="5925312" y="0"/>
            <a:ext cx="1828800" cy="6451600"/>
          </a:xfrm>
          <a:prstGeom prst="rect">
            <a:avLst/>
          </a:prstGeom>
          <a:gradFill rotWithShape="1">
            <a:gsLst>
              <a:gs pos="0">
                <a:srgbClr val="000000">
                  <a:alpha val="10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ulinary term"/>
          <p:cNvSpPr txBox="1"/>
          <p:nvPr/>
        </p:nvSpPr>
        <p:spPr>
          <a:xfrm>
            <a:off x="548640" y="2631440"/>
            <a:ext cx="530352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High-heat </a:t>
            </a:r>
            <a:r>
              <a:rPr sz="4200" b="1">
                <a:solidFill>
                  <a:srgbClr val="ED1C24"/>
                </a:solidFill>
                <a:latin typeface="Arial"/>
              </a:rPr>
              <a:t>SEAR</a:t>
            </a:r>
          </a:p>
        </p:txBody>
      </p:sp>
      <p:sp>
        <p:nvSpPr>
          <p:cNvPr id="6" name="Divider"/>
          <p:cNvSpPr/>
          <p:nvPr/>
        </p:nvSpPr>
        <p:spPr>
          <a:xfrm>
            <a:off x="548640" y="3614420"/>
            <a:ext cx="4937760" cy="12802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ulinary term"/>
          <p:cNvSpPr txBox="1"/>
          <p:nvPr/>
        </p:nvSpPr>
        <p:spPr>
          <a:xfrm>
            <a:off x="548640" y="3820160"/>
            <a:ext cx="530352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4200" b="1">
                <a:solidFill>
                  <a:srgbClr val="ED1C24"/>
                </a:solidFill>
                <a:latin typeface="Arial"/>
              </a:rPr>
              <a:t>CARAMELIZED</a:t>
            </a:r>
            <a:r>
              <a:rPr sz="2600" b="1">
                <a:solidFill>
                  <a:srgbClr val="FFFFFF"/>
                </a:solidFill>
                <a:latin typeface="Arial"/>
              </a:rPr>
              <a:t> Onions</a:t>
            </a:r>
          </a:p>
        </p:txBody>
      </p:sp>
      <p:sp>
        <p:nvSpPr>
          <p:cNvPr id="8" name="Divider"/>
          <p:cNvSpPr/>
          <p:nvPr/>
        </p:nvSpPr>
        <p:spPr>
          <a:xfrm>
            <a:off x="548640" y="4803140"/>
            <a:ext cx="4937760" cy="12802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ulinary term"/>
          <p:cNvSpPr txBox="1"/>
          <p:nvPr/>
        </p:nvSpPr>
        <p:spPr>
          <a:xfrm>
            <a:off x="548640" y="5008880"/>
            <a:ext cx="530352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4200" b="1">
                <a:solidFill>
                  <a:srgbClr val="ED1C24"/>
                </a:solidFill>
                <a:latin typeface="Arial"/>
              </a:rPr>
              <a:t>SAUTÉED</a:t>
            </a:r>
            <a:r>
              <a:rPr sz="2600" b="1">
                <a:solidFill>
                  <a:srgbClr val="FFFFFF"/>
                </a:solidFill>
                <a:latin typeface="Arial"/>
              </a:rPr>
              <a:t> Mushrooms</a:t>
            </a:r>
          </a:p>
        </p:txBody>
      </p:sp>
      <p:grpSp>
        <p:nvGrpSpPr>
          <p:cNvPr id="10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11" name="Rectangle 10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5760720" cy="1371600"/>
          </a:xfrm>
        </p:spPr>
        <p:txBody>
          <a:bodyPr anchor="t" wrap="square" lIns="0" rIns="0" tIns="0" bIns="0">
            <a:noAutofit/>
          </a:bodyPr>
          <a:lstStyle/>
          <a:p>
            <a:pPr algn="l">
              <a:lnSpc>
                <a:spcPct val="92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Cajun Fries</a:t>
            </a:r>
          </a:p>
          <a:p>
            <a:pPr algn="l">
              <a:lnSpc>
                <a:spcPct val="92000"/>
              </a:lnSpc>
            </a:pPr>
            <a:r>
              <a:rPr sz="4400" b="1">
                <a:solidFill>
                  <a:srgbClr val="ED1C24"/>
                </a:solidFill>
                <a:latin typeface="Arial"/>
              </a:rPr>
              <a:t>&amp; Conclusion</a:t>
            </a:r>
          </a:p>
        </p:txBody>
      </p:sp>
      <p:pic>
        <p:nvPicPr>
          <p:cNvPr id="3" name="Photo cajun_fries" descr="Five Guys Cajun fries in a white cup"/>
          <p:cNvPicPr>
            <a:picLocks noChangeAspect="1"/>
          </p:cNvPicPr>
          <p:nvPr/>
        </p:nvPicPr>
        <p:blipFill>
          <a:blip r:embed="rId2"/>
          <a:srcRect l="14379" r="34379"/>
          <a:stretch>
            <a:fillRect/>
          </a:stretch>
        </p:blipFill>
        <p:spPr>
          <a:xfrm>
            <a:off x="6309360" y="0"/>
            <a:ext cx="5882640" cy="6451600"/>
          </a:xfrm>
          <a:prstGeom prst="rect">
            <a:avLst/>
          </a:prstGeom>
        </p:spPr>
      </p:pic>
      <p:sp>
        <p:nvSpPr>
          <p:cNvPr id="4" name="Keyword peanut oil"/>
          <p:cNvSpPr/>
          <p:nvPr/>
        </p:nvSpPr>
        <p:spPr>
          <a:xfrm>
            <a:off x="548640" y="2240280"/>
            <a:ext cx="4846320" cy="914400"/>
          </a:xfrm>
          <a:prstGeom prst="roundRect">
            <a:avLst>
              <a:gd name="adj" fmla="val 14000"/>
            </a:avLst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adge droplet"/>
          <p:cNvSpPr/>
          <p:nvPr/>
        </p:nvSpPr>
        <p:spPr>
          <a:xfrm>
            <a:off x="713232" y="2395728"/>
            <a:ext cx="603504" cy="60350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Icon droplet" descr="drople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003" y="2528499"/>
            <a:ext cx="337962" cy="3379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36192" y="2240280"/>
            <a:ext cx="3749040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100% Peanut Oil</a:t>
            </a:r>
          </a:p>
        </p:txBody>
      </p:sp>
      <p:sp>
        <p:nvSpPr>
          <p:cNvPr id="8" name="Step blanch"/>
          <p:cNvSpPr/>
          <p:nvPr/>
        </p:nvSpPr>
        <p:spPr>
          <a:xfrm>
            <a:off x="548640" y="3474720"/>
            <a:ext cx="4846320" cy="868680"/>
          </a:xfrm>
          <a:prstGeom prst="roundRect">
            <a:avLst>
              <a:gd name="adj" fmla="val 14736"/>
            </a:avLst>
          </a:prstGeom>
          <a:solidFill>
            <a:srgbClr val="ED1C24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BLANCH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61688"/>
            <a:ext cx="484632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↓</a:t>
            </a:r>
          </a:p>
        </p:txBody>
      </p:sp>
      <p:sp>
        <p:nvSpPr>
          <p:cNvPr id="10" name="Step deep-fry"/>
          <p:cNvSpPr/>
          <p:nvPr/>
        </p:nvSpPr>
        <p:spPr>
          <a:xfrm>
            <a:off x="548640" y="4937760"/>
            <a:ext cx="4846320" cy="868680"/>
          </a:xfrm>
          <a:prstGeom prst="roundRect">
            <a:avLst>
              <a:gd name="adj" fmla="val 14736"/>
            </a:avLst>
          </a:prstGeom>
          <a:solidFill>
            <a:srgbClr val="ED1C24"/>
          </a:solidFill>
          <a:ln>
            <a:noFill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Double </a:t>
            </a:r>
            <a:r>
              <a:rPr sz="3600" b="1">
                <a:solidFill>
                  <a:srgbClr val="FFFFFF"/>
                </a:solidFill>
                <a:latin typeface="Arial"/>
              </a:rPr>
              <a:t>DEEP-FRY</a:t>
            </a:r>
          </a:p>
        </p:txBody>
      </p:sp>
      <p:grpSp>
        <p:nvGrpSpPr>
          <p:cNvPr id="11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12" name="Rectangle 11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ive Guys">
      <a:dk1>
        <a:srgbClr val="000000"/>
      </a:dk1>
      <a:lt1>
        <a:srgbClr val="FFFFFF"/>
      </a:lt1>
      <a:dk2>
        <a:srgbClr val="1A1A1A"/>
      </a:dk2>
      <a:lt2>
        <a:srgbClr val="F2F2F2"/>
      </a:lt2>
      <a:accent1>
        <a:srgbClr val="ED1C24"/>
      </a:accent1>
      <a:accent2>
        <a:srgbClr val="000000"/>
      </a:accent2>
      <a:accent3>
        <a:srgbClr val="8C8C8C"/>
      </a:accent3>
      <a:accent4>
        <a:srgbClr val="B3141A"/>
      </a:accent4>
      <a:accent5>
        <a:srgbClr val="F47C80"/>
      </a:accent5>
      <a:accent6>
        <a:srgbClr val="595959"/>
      </a:accent6>
      <a:hlink>
        <a:srgbClr val="ED1C24"/>
      </a:hlink>
      <a:folHlink>
        <a:srgbClr val="B3141A"/>
      </a:folHlink>
    </a:clrScheme>
    <a:fontScheme name="Five Guys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GUYS Review - Successful Marketing &amp; Signature Menu</dc:title>
  <dc:subject>English presentation</dc:subject>
  <dc:creator/>
  <cp:keywords/>
  <dc:description>Photos (Wikimedia Commons): Slide 1 Andy Li, CC0; Slide 2 Tjeerd Wiersma, CC BY 2.0; Slide 3 Bobak Ha'Eri, CC BY 3.0; Slide 4 Sarah Stierch, CC0; Slide 5 Simon Doggett, CC BY 2.0. Icons: Tabler Icons (MIT).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