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1C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store_brighton_night" descr="Five Guys restaurant at night with its red neon sign"/>
          <p:cNvPicPr>
            <a:picLocks noChangeAspect="1"/>
          </p:cNvPicPr>
          <p:nvPr/>
        </p:nvPicPr>
        <p:blipFill>
          <a:blip r:embed="rId2"/>
          <a:srcRect t="16456" b="16456"/>
          <a:stretch>
            <a:fillRect/>
          </a:stretch>
        </p:blipFill>
        <p:spPr>
          <a:xfrm>
            <a:off x="457200" y="411480"/>
            <a:ext cx="11277600" cy="5674360"/>
          </a:xfrm>
          <a:prstGeom prst="roundRect">
            <a:avLst>
              <a:gd name="adj" fmla="val 2256"/>
            </a:avLst>
          </a:prstGeom>
        </p:spPr>
      </p:pic>
      <p:grpSp>
        <p:nvGrpSpPr>
          <p:cNvPr id="3" name="Checker band"/>
          <p:cNvGrpSpPr/>
          <p:nvPr/>
        </p:nvGrpSpPr>
        <p:grpSpPr>
          <a:xfrm>
            <a:off x="0" y="6451600"/>
            <a:ext cx="12192000" cy="406400"/>
            <a:chOff x="0" y="6451600"/>
            <a:chExt cx="12192000" cy="406400"/>
          </a:xfrm>
        </p:grpSpPr>
        <p:sp>
          <p:nvSpPr>
            <p:cNvPr id="4" name="Rectangle 3"/>
            <p:cNvSpPr/>
            <p:nvPr/>
          </p:nvSpPr>
          <p:spPr>
            <a:xfrm>
              <a:off x="0" y="645160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40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1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1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62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032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438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44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51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657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064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70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876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283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689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096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502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908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15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721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8128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534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940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47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753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160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56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97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137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78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0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0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1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42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82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235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641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048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454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860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267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673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080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486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892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299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705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7112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518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924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31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737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144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9550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9956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036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076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117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158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198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open_kitchen_covent_garden" descr="Five Guys cooks making burgers in an open kitchen"/>
          <p:cNvPicPr>
            <a:picLocks noChangeAspect="1"/>
          </p:cNvPicPr>
          <p:nvPr/>
        </p:nvPicPr>
        <p:blipFill>
          <a:blip r:embed="rId2"/>
          <a:srcRect r="8530"/>
          <a:stretch>
            <a:fillRect/>
          </a:stretch>
        </p:blipFill>
        <p:spPr>
          <a:xfrm>
            <a:off x="457200" y="411480"/>
            <a:ext cx="6949440" cy="5674360"/>
          </a:xfrm>
          <a:prstGeom prst="roundRect">
            <a:avLst>
              <a:gd name="adj" fmla="val 2256"/>
            </a:avLst>
          </a:prstGeom>
        </p:spPr>
      </p:pic>
      <p:pic>
        <p:nvPicPr>
          <p:cNvPr id="3" name="Photo fresh_potatoes_peanuts" descr="Sacks of fresh potatoes and boxes of peanuts inside a Five Guys"/>
          <p:cNvPicPr>
            <a:picLocks noChangeAspect="1"/>
          </p:cNvPicPr>
          <p:nvPr/>
        </p:nvPicPr>
        <p:blipFill>
          <a:blip r:embed="rId3"/>
          <a:srcRect l="17982" r="17982"/>
          <a:stretch>
            <a:fillRect/>
          </a:stretch>
        </p:blipFill>
        <p:spPr>
          <a:xfrm>
            <a:off x="7589520" y="411480"/>
            <a:ext cx="4145280" cy="5674360"/>
          </a:xfrm>
          <a:prstGeom prst="roundRect">
            <a:avLst>
              <a:gd name="adj" fmla="val 3088"/>
            </a:avLst>
          </a:prstGeom>
        </p:spPr>
      </p:pic>
      <p:grpSp>
        <p:nvGrpSpPr>
          <p:cNvPr id="4" name="Checker band"/>
          <p:cNvGrpSpPr/>
          <p:nvPr/>
        </p:nvGrpSpPr>
        <p:grpSpPr>
          <a:xfrm>
            <a:off x="0" y="6451600"/>
            <a:ext cx="12192000" cy="406400"/>
            <a:chOff x="0" y="6451600"/>
            <a:chExt cx="12192000" cy="406400"/>
          </a:xfrm>
        </p:grpSpPr>
        <p:sp>
          <p:nvSpPr>
            <p:cNvPr id="5" name="Rectangle 4"/>
            <p:cNvSpPr/>
            <p:nvPr/>
          </p:nvSpPr>
          <p:spPr>
            <a:xfrm>
              <a:off x="0" y="645160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0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1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1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2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032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38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844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51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657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064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70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876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283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689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096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502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908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315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721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128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534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940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347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753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160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56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97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37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78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0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0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1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42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82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235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641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048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454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860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267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673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080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486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892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99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05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112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518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924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331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737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9144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9550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9956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036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076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117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158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98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toppings_burger" descr="Five Guys burger stacked with toppings"/>
          <p:cNvPicPr>
            <a:picLocks noChangeAspect="1"/>
          </p:cNvPicPr>
          <p:nvPr/>
        </p:nvPicPr>
        <p:blipFill>
          <a:blip r:embed="rId2"/>
          <a:srcRect l="13339" r="13339"/>
          <a:stretch>
            <a:fillRect/>
          </a:stretch>
        </p:blipFill>
        <p:spPr>
          <a:xfrm>
            <a:off x="457200" y="411480"/>
            <a:ext cx="5547360" cy="5674360"/>
          </a:xfrm>
          <a:prstGeom prst="roundRect">
            <a:avLst>
              <a:gd name="adj" fmla="val 2307"/>
            </a:avLst>
          </a:prstGeom>
        </p:spPr>
      </p:pic>
      <p:pic>
        <p:nvPicPr>
          <p:cNvPr id="3" name="Photo free_peanuts" descr="A box of free in-shell peanuts at a Five Guys"/>
          <p:cNvPicPr>
            <a:picLocks noChangeAspect="1"/>
          </p:cNvPicPr>
          <p:nvPr/>
        </p:nvPicPr>
        <p:blipFill>
          <a:blip r:embed="rId3"/>
          <a:srcRect l="5081" r="15081"/>
          <a:stretch>
            <a:fillRect/>
          </a:stretch>
        </p:blipFill>
        <p:spPr>
          <a:xfrm>
            <a:off x="6187440" y="411480"/>
            <a:ext cx="5547360" cy="5674360"/>
          </a:xfrm>
          <a:prstGeom prst="roundRect">
            <a:avLst>
              <a:gd name="adj" fmla="val 2307"/>
            </a:avLst>
          </a:prstGeom>
        </p:spPr>
      </p:pic>
      <p:grpSp>
        <p:nvGrpSpPr>
          <p:cNvPr id="4" name="Checker band"/>
          <p:cNvGrpSpPr/>
          <p:nvPr/>
        </p:nvGrpSpPr>
        <p:grpSpPr>
          <a:xfrm>
            <a:off x="0" y="6451600"/>
            <a:ext cx="12192000" cy="406400"/>
            <a:chOff x="0" y="6451600"/>
            <a:chExt cx="12192000" cy="406400"/>
          </a:xfrm>
        </p:grpSpPr>
        <p:sp>
          <p:nvSpPr>
            <p:cNvPr id="5" name="Rectangle 4"/>
            <p:cNvSpPr/>
            <p:nvPr/>
          </p:nvSpPr>
          <p:spPr>
            <a:xfrm>
              <a:off x="0" y="645160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0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81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1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62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032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38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844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51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657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064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70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876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283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689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096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502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908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315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721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8128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8534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940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9347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753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160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56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97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37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178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0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0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1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42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82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235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641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048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454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860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4267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673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080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486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892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99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6705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112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518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924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331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737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9144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9550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9956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1036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076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117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158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98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bacon_cheeseburger" descr="Five Guys bacon cheeseburger"/>
          <p:cNvPicPr>
            <a:picLocks noChangeAspect="1"/>
          </p:cNvPicPr>
          <p:nvPr/>
        </p:nvPicPr>
        <p:blipFill>
          <a:blip r:embed="rId2"/>
          <a:srcRect t="8831" b="8831"/>
          <a:stretch>
            <a:fillRect/>
          </a:stretch>
        </p:blipFill>
        <p:spPr>
          <a:xfrm>
            <a:off x="457200" y="411480"/>
            <a:ext cx="7223760" cy="5674360"/>
          </a:xfrm>
          <a:prstGeom prst="roundRect">
            <a:avLst>
              <a:gd name="adj" fmla="val 2256"/>
            </a:avLst>
          </a:prstGeom>
        </p:spPr>
      </p:pic>
      <p:pic>
        <p:nvPicPr>
          <p:cNvPr id="3" name="Photo sear_patties_grill" descr="Burger patties searing on a flat grill"/>
          <p:cNvPicPr>
            <a:picLocks noChangeAspect="1"/>
          </p:cNvPicPr>
          <p:nvPr/>
        </p:nvPicPr>
        <p:blipFill>
          <a:blip r:embed="rId3"/>
          <a:srcRect t="31404"/>
          <a:stretch>
            <a:fillRect/>
          </a:stretch>
        </p:blipFill>
        <p:spPr>
          <a:xfrm>
            <a:off x="7863840" y="411480"/>
            <a:ext cx="3870960" cy="1769533"/>
          </a:xfrm>
          <a:prstGeom prst="roundRect">
            <a:avLst>
              <a:gd name="adj" fmla="val 7234"/>
            </a:avLst>
          </a:prstGeom>
        </p:spPr>
      </p:pic>
      <p:pic>
        <p:nvPicPr>
          <p:cNvPr id="4" name="Photo caramelized_onions" descr="Onions caramelizing in a pan"/>
          <p:cNvPicPr>
            <a:picLocks noChangeAspect="1"/>
          </p:cNvPicPr>
          <p:nvPr/>
        </p:nvPicPr>
        <p:blipFill>
          <a:blip r:embed="rId4"/>
          <a:srcRect t="9366" b="9366"/>
          <a:stretch>
            <a:fillRect/>
          </a:stretch>
        </p:blipFill>
        <p:spPr>
          <a:xfrm>
            <a:off x="7863840" y="2363893"/>
            <a:ext cx="3870960" cy="1769533"/>
          </a:xfrm>
          <a:prstGeom prst="roundRect">
            <a:avLst>
              <a:gd name="adj" fmla="val 7234"/>
            </a:avLst>
          </a:prstGeom>
        </p:spPr>
      </p:pic>
      <p:pic>
        <p:nvPicPr>
          <p:cNvPr id="5" name="Photo sauteed_mushrooms" descr="Sauteed mushrooms"/>
          <p:cNvPicPr>
            <a:picLocks noChangeAspect="1"/>
          </p:cNvPicPr>
          <p:nvPr/>
        </p:nvPicPr>
        <p:blipFill>
          <a:blip r:embed="rId5"/>
          <a:srcRect t="19525" b="19525"/>
          <a:stretch>
            <a:fillRect/>
          </a:stretch>
        </p:blipFill>
        <p:spPr>
          <a:xfrm>
            <a:off x="7863840" y="4316307"/>
            <a:ext cx="3870960" cy="1769533"/>
          </a:xfrm>
          <a:prstGeom prst="roundRect">
            <a:avLst>
              <a:gd name="adj" fmla="val 7234"/>
            </a:avLst>
          </a:prstGeom>
        </p:spPr>
      </p:pic>
      <p:grpSp>
        <p:nvGrpSpPr>
          <p:cNvPr id="6" name="Checker band"/>
          <p:cNvGrpSpPr/>
          <p:nvPr/>
        </p:nvGrpSpPr>
        <p:grpSpPr>
          <a:xfrm>
            <a:off x="0" y="6451600"/>
            <a:ext cx="12192000" cy="406400"/>
            <a:chOff x="0" y="6451600"/>
            <a:chExt cx="12192000" cy="406400"/>
          </a:xfrm>
        </p:grpSpPr>
        <p:sp>
          <p:nvSpPr>
            <p:cNvPr id="7" name="Rectangle 6"/>
            <p:cNvSpPr/>
            <p:nvPr/>
          </p:nvSpPr>
          <p:spPr>
            <a:xfrm>
              <a:off x="0" y="645160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0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1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62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32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438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44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51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657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4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70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76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283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689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96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502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08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315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721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128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34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940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347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753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160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56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97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37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178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0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0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1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42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82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235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641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8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454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860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267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673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080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486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892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299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705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112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518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924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331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37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9144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550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956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036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076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7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58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98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hoto fries_frying" descr="Hand-cut fries frying in hot oil"/>
          <p:cNvPicPr>
            <a:picLocks noChangeAspect="1"/>
          </p:cNvPicPr>
          <p:nvPr/>
        </p:nvPicPr>
        <p:blipFill>
          <a:blip r:embed="rId2"/>
          <a:srcRect t="12229" b="12229"/>
          <a:stretch>
            <a:fillRect/>
          </a:stretch>
        </p:blipFill>
        <p:spPr>
          <a:xfrm>
            <a:off x="457200" y="411480"/>
            <a:ext cx="4846320" cy="2745740"/>
          </a:xfrm>
          <a:prstGeom prst="roundRect">
            <a:avLst>
              <a:gd name="adj" fmla="val 4662"/>
            </a:avLst>
          </a:prstGeom>
        </p:spPr>
      </p:pic>
      <p:sp>
        <p:nvSpPr>
          <p:cNvPr id="3" name="Map panel"/>
          <p:cNvSpPr/>
          <p:nvPr/>
        </p:nvSpPr>
        <p:spPr>
          <a:xfrm>
            <a:off x="457200" y="3340100"/>
            <a:ext cx="4846320" cy="2745740"/>
          </a:xfrm>
          <a:prstGeom prst="roundRect">
            <a:avLst>
              <a:gd name="adj" fmla="val 4662"/>
            </a:avLst>
          </a:prstGeom>
          <a:solidFill>
            <a:srgbClr val="1E1E1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hoto five_guys_world_map" descr="World map with the countries that have Five Guys restaurants in 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75328"/>
            <a:ext cx="4480560" cy="2275284"/>
          </a:xfrm>
          <a:prstGeom prst="rect">
            <a:avLst/>
          </a:prstGeom>
        </p:spPr>
      </p:pic>
      <p:pic>
        <p:nvPicPr>
          <p:cNvPr id="5" name="Photo cajun_fries" descr="Five Guys Cajun fries in a white cup"/>
          <p:cNvPicPr>
            <a:picLocks noChangeAspect="1"/>
          </p:cNvPicPr>
          <p:nvPr/>
        </p:nvPicPr>
        <p:blipFill>
          <a:blip r:embed="rId4"/>
          <a:srcRect l="11058" r="27058"/>
          <a:stretch>
            <a:fillRect/>
          </a:stretch>
        </p:blipFill>
        <p:spPr>
          <a:xfrm>
            <a:off x="5486400" y="411480"/>
            <a:ext cx="6248400" cy="5674360"/>
          </a:xfrm>
          <a:prstGeom prst="roundRect">
            <a:avLst>
              <a:gd name="adj" fmla="val 2256"/>
            </a:avLst>
          </a:prstGeom>
        </p:spPr>
      </p:pic>
      <p:grpSp>
        <p:nvGrpSpPr>
          <p:cNvPr id="6" name="Checker band"/>
          <p:cNvGrpSpPr/>
          <p:nvPr/>
        </p:nvGrpSpPr>
        <p:grpSpPr>
          <a:xfrm>
            <a:off x="0" y="6451600"/>
            <a:ext cx="12192000" cy="406400"/>
            <a:chOff x="0" y="6451600"/>
            <a:chExt cx="12192000" cy="406400"/>
          </a:xfrm>
        </p:grpSpPr>
        <p:sp>
          <p:nvSpPr>
            <p:cNvPr id="7" name="Rectangle 6"/>
            <p:cNvSpPr/>
            <p:nvPr/>
          </p:nvSpPr>
          <p:spPr>
            <a:xfrm>
              <a:off x="0" y="6451600"/>
              <a:ext cx="12192000" cy="406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0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1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1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62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032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438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44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51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657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4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70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876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283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689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96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6502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08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315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721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128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534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940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347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9753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1600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5664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9728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13792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1785600" y="64516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0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0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1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42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82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235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641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048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454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860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4267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673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5080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486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892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299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705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112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7518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7924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331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37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9144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550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9956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103632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07696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11760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15824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1988800" y="6654800"/>
              <a:ext cx="203200" cy="203200"/>
            </a:xfrm>
            <a:prstGeom prst="rect">
              <a:avLst/>
            </a:prstGeom>
            <a:solidFill>
              <a:srgbClr val="ED1C24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ive Guys">
      <a:dk1>
        <a:srgbClr val="000000"/>
      </a:dk1>
      <a:lt1>
        <a:srgbClr val="FFFFFF"/>
      </a:lt1>
      <a:dk2>
        <a:srgbClr val="1A1A1A"/>
      </a:dk2>
      <a:lt2>
        <a:srgbClr val="F2F2F2"/>
      </a:lt2>
      <a:accent1>
        <a:srgbClr val="ED1C24"/>
      </a:accent1>
      <a:accent2>
        <a:srgbClr val="000000"/>
      </a:accent2>
      <a:accent3>
        <a:srgbClr val="8C8C8C"/>
      </a:accent3>
      <a:accent4>
        <a:srgbClr val="B3141A"/>
      </a:accent4>
      <a:accent5>
        <a:srgbClr val="F47C80"/>
      </a:accent5>
      <a:accent6>
        <a:srgbClr val="595959"/>
      </a:accent6>
      <a:hlink>
        <a:srgbClr val="ED1C24"/>
      </a:hlink>
      <a:folHlink>
        <a:srgbClr val="B3141A"/>
      </a:folHlink>
    </a:clrScheme>
    <a:fontScheme name="Five Guys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 GUYS Review</dc:title>
  <dc:subject/>
  <dc:creator/>
  <cp:keywords/>
  <dc:description>Photos via Wikimedia Commons. Slide 1: Andy Li (CC0). Slide 2: Tjeerd Wiersma (CC BY 2.0); Danielstats (CC0). Slide 3: Sarah Stierch (CC0); Bobak Ha'Eri (CC BY 3.0). Slide 4: Bobak Ha'Eri (CC BY 3.0); US Embassy Canada (CC BY 2.0); ccbarr (CC BY-SA 2.0); Roger469 (CC BY-SA 3.0). Slide 5: Simon Doggett (CC BY 2.0); Kalsoum17 (CC BY-SA 4.0); Five Guys country map, Canuckguy and others (CC0).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